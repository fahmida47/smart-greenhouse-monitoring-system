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6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36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7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3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4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1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5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43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8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2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25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3DB23-E350-4F8D-B7E7-1E785D872437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BC622-4B36-4F30-9D2F-391D47EAD4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58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117"/>
            <a:ext cx="12175013" cy="68675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6543" y="3045125"/>
            <a:ext cx="1345721" cy="241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9979" y="1156021"/>
            <a:ext cx="6167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Smart Greenhouse Monitoring System</a:t>
            </a:r>
            <a:endParaRPr lang="en-US" sz="36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812317" y="3465682"/>
            <a:ext cx="1475117" cy="2932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812317" y="3906352"/>
            <a:ext cx="1694373" cy="2941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813749" y="4794691"/>
            <a:ext cx="5138477" cy="182153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669979" y="2377286"/>
            <a:ext cx="5695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To develop an </a:t>
            </a:r>
            <a:r>
              <a:rPr lang="en-US" sz="1400" dirty="0" err="1" smtClean="0"/>
              <a:t>IoT</a:t>
            </a:r>
            <a:r>
              <a:rPr lang="en-US" sz="1400" dirty="0" smtClean="0"/>
              <a:t>-based Smart Greenhouse using ESP32 that automatically monitors and controls soil moisture, temperature, humidity, lighting, irrigation, ventilation, and rain protection, while allowing real-time monitoring and manual control through the </a:t>
            </a:r>
            <a:r>
              <a:rPr lang="en-US" sz="1400" dirty="0" err="1" smtClean="0"/>
              <a:t>Blynk</a:t>
            </a:r>
            <a:r>
              <a:rPr lang="en-US" sz="1400" dirty="0" smtClean="0"/>
              <a:t> mobile app.</a:t>
            </a:r>
            <a:endParaRPr 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877014" y="3476907"/>
            <a:ext cx="1410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Automatic-Control</a:t>
            </a:r>
            <a:endParaRPr 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404501" y="3476907"/>
            <a:ext cx="510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877014" y="3906351"/>
            <a:ext cx="1713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Real-Time monitoring</a:t>
            </a:r>
            <a:endParaRPr lang="en-US" sz="12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1026543" y="4878245"/>
            <a:ext cx="49256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CSE 3118 - Microprocessors &amp; </a:t>
            </a:r>
            <a:r>
              <a:rPr lang="en-US" sz="1600" b="1" dirty="0" err="1" smtClean="0"/>
              <a:t>MicroControllers</a:t>
            </a:r>
            <a:r>
              <a:rPr lang="en-US" sz="1600" b="1" dirty="0" smtClean="0"/>
              <a:t> Lab</a:t>
            </a:r>
            <a:endParaRPr 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036785" y="5120681"/>
            <a:ext cx="263069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75000"/>
                  </a:schemeClr>
                </a:solidFill>
              </a:rPr>
              <a:t>Submitted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Ahona</a:t>
            </a:r>
            <a:r>
              <a:rPr lang="en-US" sz="1400" dirty="0" smtClean="0"/>
              <a:t> </a:t>
            </a:r>
            <a:r>
              <a:rPr lang="en-US" sz="1400" dirty="0" err="1" smtClean="0"/>
              <a:t>Zabin</a:t>
            </a:r>
            <a:r>
              <a:rPr lang="en-US" sz="1400" dirty="0" smtClean="0"/>
              <a:t>(30)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Fahmida</a:t>
            </a:r>
            <a:r>
              <a:rPr lang="en-US" sz="1400" dirty="0" smtClean="0"/>
              <a:t> Afrin Nadia(47)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Afifa</a:t>
            </a:r>
            <a:r>
              <a:rPr lang="en-US" sz="1400" dirty="0" smtClean="0"/>
              <a:t> </a:t>
            </a:r>
            <a:r>
              <a:rPr lang="en-US" sz="1400" dirty="0" err="1" smtClean="0"/>
              <a:t>Faija</a:t>
            </a:r>
            <a:r>
              <a:rPr lang="en-US" sz="1400" dirty="0" smtClean="0"/>
              <a:t>(114),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 smtClean="0"/>
              <a:t>Afra</a:t>
            </a:r>
            <a:r>
              <a:rPr lang="en-US" sz="1400" dirty="0" smtClean="0"/>
              <a:t> Anan(117)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785" y="6249973"/>
            <a:ext cx="38781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Ahsanullah</a:t>
            </a:r>
            <a:r>
              <a:rPr lang="en-US" sz="1400" dirty="0" smtClean="0"/>
              <a:t> University of Science and Technology</a:t>
            </a:r>
            <a:endParaRPr lang="en-US" sz="1400" dirty="0"/>
          </a:p>
        </p:txBody>
      </p:sp>
      <p:sp>
        <p:nvSpPr>
          <p:cNvPr id="27" name="Rounded Rectangle 26"/>
          <p:cNvSpPr/>
          <p:nvPr/>
        </p:nvSpPr>
        <p:spPr>
          <a:xfrm>
            <a:off x="2352130" y="3465681"/>
            <a:ext cx="1475117" cy="2932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495183" y="3476907"/>
            <a:ext cx="1371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/>
              <a:t>Manual-Control</a:t>
            </a:r>
            <a:endParaRPr lang="en-US" sz="1200" b="1" dirty="0"/>
          </a:p>
        </p:txBody>
      </p:sp>
      <p:sp>
        <p:nvSpPr>
          <p:cNvPr id="29" name="Rounded Rectangle 28"/>
          <p:cNvSpPr/>
          <p:nvPr/>
        </p:nvSpPr>
        <p:spPr>
          <a:xfrm>
            <a:off x="3902004" y="3465681"/>
            <a:ext cx="1475117" cy="2932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 flipH="1">
            <a:off x="4369279" y="3484518"/>
            <a:ext cx="4977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/>
              <a:t>Wifi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7643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50492" y="712548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994193" y="702727"/>
            <a:ext cx="2260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Project Overview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21101" y="1397481"/>
            <a:ext cx="4899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What we are building?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21101" y="2043812"/>
            <a:ext cx="5693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A compact </a:t>
            </a:r>
            <a:r>
              <a:rPr lang="en-US" sz="1400" b="1" dirty="0" err="1" smtClean="0"/>
              <a:t>IoT</a:t>
            </a:r>
            <a:r>
              <a:rPr lang="en-US" sz="1400" b="1" dirty="0" smtClean="0"/>
              <a:t>-based Smart Greenhouse</a:t>
            </a:r>
            <a:r>
              <a:rPr lang="en-US" sz="1400" dirty="0" smtClean="0"/>
              <a:t> that combines automatic environmental monitoring, plant-care automation, and user control.</a:t>
            </a:r>
            <a:endParaRPr lang="en-US" sz="1400" dirty="0"/>
          </a:p>
        </p:txBody>
      </p:sp>
      <p:sp>
        <p:nvSpPr>
          <p:cNvPr id="18" name="Rounded Rectangle 17"/>
          <p:cNvSpPr/>
          <p:nvPr/>
        </p:nvSpPr>
        <p:spPr>
          <a:xfrm>
            <a:off x="621101" y="2690143"/>
            <a:ext cx="5900469" cy="11069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50492" y="2741758"/>
            <a:ext cx="577107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C00000"/>
                </a:solidFill>
              </a:rPr>
              <a:t>CORE IDEA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/>
              <a:t>The system continuously monitors greenhouse conditions and automatically controls irrigation, ventilation, lighting, and roof protection based on sensor data, while allowing users to monitor and control the greenhouse remotely.</a:t>
            </a:r>
            <a:endParaRPr lang="en-US" sz="1400" dirty="0"/>
          </a:p>
        </p:txBody>
      </p:sp>
      <p:sp>
        <p:nvSpPr>
          <p:cNvPr id="23" name="Rounded Rectangle 22"/>
          <p:cNvSpPr/>
          <p:nvPr/>
        </p:nvSpPr>
        <p:spPr>
          <a:xfrm>
            <a:off x="621100" y="4023677"/>
            <a:ext cx="3088257" cy="989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15580" y="4028232"/>
            <a:ext cx="298905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Environmental Monitoring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/>
              <a:t>Soil moisture • Temperature • Humidity • Light intensity • Rain detection</a:t>
            </a:r>
            <a:endParaRPr lang="en-US" sz="1400" dirty="0"/>
          </a:p>
        </p:txBody>
      </p:sp>
      <p:sp>
        <p:nvSpPr>
          <p:cNvPr id="27" name="Rounded Rectangle 26"/>
          <p:cNvSpPr/>
          <p:nvPr/>
        </p:nvSpPr>
        <p:spPr>
          <a:xfrm>
            <a:off x="3918348" y="4023677"/>
            <a:ext cx="3088257" cy="989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1524324" y="5239745"/>
            <a:ext cx="3088257" cy="989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4834910" y="5239744"/>
            <a:ext cx="3088257" cy="989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 flipH="1">
            <a:off x="4042769" y="4010564"/>
            <a:ext cx="29562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Automatic Control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/>
              <a:t>Smart irrigation • Water pump control • Automatic fan control • LDR-based light control • Automatic roof control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1675380" y="5269081"/>
            <a:ext cx="2786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User Control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err="1" smtClean="0"/>
              <a:t>Blynk</a:t>
            </a:r>
            <a:r>
              <a:rPr lang="en-US" sz="1400" dirty="0" smtClean="0"/>
              <a:t> </a:t>
            </a:r>
            <a:r>
              <a:rPr lang="en-US" sz="1400" dirty="0" err="1" smtClean="0"/>
              <a:t>IoT</a:t>
            </a:r>
            <a:r>
              <a:rPr lang="en-US" sz="1400" dirty="0" smtClean="0"/>
              <a:t> • Mobile app monitoring • Manual control • Automatic control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5077823" y="5294517"/>
            <a:ext cx="3019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Control System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/>
              <a:t>ESP32 • Sensors • Servo motor</a:t>
            </a:r>
          </a:p>
          <a:p>
            <a:r>
              <a:rPr lang="en-US" sz="1400" dirty="0" smtClean="0"/>
              <a:t> • Real-time monitoring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946072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1" y="712548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69669" y="712548"/>
            <a:ext cx="1958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System Features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50484" y="1267848"/>
            <a:ext cx="543464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Core features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Main functions of the </a:t>
            </a:r>
            <a:r>
              <a:rPr lang="en-US" b="1" dirty="0" smtClean="0"/>
              <a:t>Smart Greenhouse System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708005" y="2234858"/>
            <a:ext cx="5598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sp>
        <p:nvSpPr>
          <p:cNvPr id="15" name="Round Diagonal Corner Rectangle 14"/>
          <p:cNvSpPr/>
          <p:nvPr/>
        </p:nvSpPr>
        <p:spPr>
          <a:xfrm>
            <a:off x="436756" y="2194566"/>
            <a:ext cx="3367493" cy="102782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 flipH="1">
            <a:off x="708865" y="2247698"/>
            <a:ext cx="308674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01</a:t>
            </a:r>
            <a:r>
              <a:rPr lang="en-US" sz="1400" b="1" dirty="0" smtClean="0"/>
              <a:t> Soil Moisture Monitoring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/>
              <a:t>Soil moisture sensor checks the soil condition and detects when irrigation is needed.</a:t>
            </a:r>
            <a:endParaRPr lang="en-US" sz="1400" dirty="0"/>
          </a:p>
        </p:txBody>
      </p:sp>
      <p:sp>
        <p:nvSpPr>
          <p:cNvPr id="23" name="Round Diagonal Corner Rectangle 22"/>
          <p:cNvSpPr/>
          <p:nvPr/>
        </p:nvSpPr>
        <p:spPr>
          <a:xfrm>
            <a:off x="4076358" y="2194566"/>
            <a:ext cx="3367493" cy="102782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 Diagonal Corner Rectangle 23"/>
          <p:cNvSpPr/>
          <p:nvPr/>
        </p:nvSpPr>
        <p:spPr>
          <a:xfrm>
            <a:off x="4076358" y="3657108"/>
            <a:ext cx="3367493" cy="102782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 Diagonal Corner Rectangle 24"/>
          <p:cNvSpPr/>
          <p:nvPr/>
        </p:nvSpPr>
        <p:spPr>
          <a:xfrm>
            <a:off x="436755" y="3657108"/>
            <a:ext cx="3367493" cy="102782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 Diagonal Corner Rectangle 25"/>
          <p:cNvSpPr/>
          <p:nvPr/>
        </p:nvSpPr>
        <p:spPr>
          <a:xfrm>
            <a:off x="7715960" y="2194566"/>
            <a:ext cx="3367493" cy="102782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 Diagonal Corner Rectangle 26"/>
          <p:cNvSpPr/>
          <p:nvPr/>
        </p:nvSpPr>
        <p:spPr>
          <a:xfrm>
            <a:off x="7715960" y="3612150"/>
            <a:ext cx="3367493" cy="102782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 Diagonal Corner Rectangle 27"/>
          <p:cNvSpPr/>
          <p:nvPr/>
        </p:nvSpPr>
        <p:spPr>
          <a:xfrm>
            <a:off x="4076357" y="5012528"/>
            <a:ext cx="3367493" cy="102782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4241005" y="2272556"/>
            <a:ext cx="32521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02</a:t>
            </a:r>
            <a:r>
              <a:rPr lang="en-US" sz="1400" b="1" dirty="0" smtClean="0"/>
              <a:t> Automatic Irrigation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/>
              <a:t>Water pump automatically turns ON/OFF based on soil moisture level.</a:t>
            </a:r>
            <a:endParaRPr lang="en-US" sz="1400" dirty="0"/>
          </a:p>
        </p:txBody>
      </p:sp>
      <p:sp>
        <p:nvSpPr>
          <p:cNvPr id="30" name="TextBox 29"/>
          <p:cNvSpPr txBox="1"/>
          <p:nvPr/>
        </p:nvSpPr>
        <p:spPr>
          <a:xfrm flipH="1">
            <a:off x="7956141" y="2268279"/>
            <a:ext cx="32535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03</a:t>
            </a:r>
            <a:r>
              <a:rPr lang="en-US" sz="1400" b="1" dirty="0" smtClean="0"/>
              <a:t> Temperature &amp; Humidity Control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Sensors monitor temperature and humidity, while the fan automatically operates when required.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690086" y="3706580"/>
            <a:ext cx="3105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04</a:t>
            </a:r>
            <a:r>
              <a:rPr lang="en-US" sz="1400" b="1" dirty="0" smtClean="0"/>
              <a:t> Automatic Light Control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LDR sensor detects light intensity and automatically controls the greenhouse lighting.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4241003" y="3693964"/>
            <a:ext cx="3273276" cy="946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05</a:t>
            </a:r>
            <a:r>
              <a:rPr lang="en-US" sz="1400" b="1" dirty="0" smtClean="0"/>
              <a:t> Rain-Based Roof Control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Rain sensor detects rainfall and servo motor automatically opens or closes the greenhouse roof.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7956141" y="3706580"/>
            <a:ext cx="29901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06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Blynk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IoT</a:t>
            </a:r>
            <a:r>
              <a:rPr lang="en-US" sz="1400" b="1" dirty="0" smtClean="0"/>
              <a:t> Monitoring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Mobile app displays real-time sensor data and greenhouse status.</a:t>
            </a:r>
            <a:endParaRPr 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4241003" y="5074692"/>
            <a:ext cx="34945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07</a:t>
            </a:r>
            <a:r>
              <a:rPr lang="en-US" sz="1400" b="1" dirty="0" smtClean="0"/>
              <a:t> Manual &amp; Automatic Control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Users can switch between automatic operation and manual control through the mobile app.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3926408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2" y="712548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flipH="1">
            <a:off x="1037755" y="712548"/>
            <a:ext cx="21626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Related Works</a:t>
            </a:r>
            <a:endParaRPr lang="en-US" sz="2000" b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105" y="1329610"/>
            <a:ext cx="9670801" cy="532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108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5993" y="517686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397479" y="512469"/>
            <a:ext cx="1233578" cy="405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Objective</a:t>
            </a:r>
            <a:endParaRPr lang="en-US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306" y="1027457"/>
            <a:ext cx="9558068" cy="573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5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1" y="419249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93955" y="419249"/>
            <a:ext cx="1509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List of Tools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470" y="934004"/>
            <a:ext cx="8734964" cy="582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5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1" y="712548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33563" y="712548"/>
            <a:ext cx="18201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Control Flow</a:t>
            </a:r>
            <a:endParaRPr lang="en-US" sz="20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766" y="1227346"/>
            <a:ext cx="8085698" cy="539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40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1" y="712548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38687" y="712548"/>
            <a:ext cx="204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Proteus Diagram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687" y="1290055"/>
            <a:ext cx="10482787" cy="540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2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0875" y="539869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flipH="1">
            <a:off x="1075274" y="526077"/>
            <a:ext cx="1912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Budget Analysis</a:t>
            </a:r>
            <a:endParaRPr lang="en-US" sz="20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580" y="1091959"/>
            <a:ext cx="8558092" cy="562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818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1" y="712548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 flipH="1">
            <a:off x="1200358" y="712548"/>
            <a:ext cx="1696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Sustainability</a:t>
            </a:r>
            <a:endParaRPr lang="en-US" sz="20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862642" y="1742536"/>
            <a:ext cx="2034532" cy="109555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3330339" y="1742536"/>
            <a:ext cx="2034532" cy="109555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372170" y="3454010"/>
            <a:ext cx="2034532" cy="109555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862642" y="3454010"/>
            <a:ext cx="2034532" cy="109555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921725" y="2066820"/>
            <a:ext cx="1975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Modular Design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29772" y="2090258"/>
            <a:ext cx="20371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Cost Efficiency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1725" y="3792253"/>
            <a:ext cx="2553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Water Efficiency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56856" y="3787638"/>
            <a:ext cx="2432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Energy Efficiency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802703" y="1719097"/>
            <a:ext cx="2034532" cy="109555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5802703" y="3454010"/>
            <a:ext cx="2034532" cy="109555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tx1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54151" y="2090258"/>
            <a:ext cx="3001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Scalability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87506" y="3768814"/>
            <a:ext cx="2613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Future Scope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8747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5978" y="421890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50491" y="421890"/>
            <a:ext cx="2596551" cy="4001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Environmental Impact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10" y="919582"/>
            <a:ext cx="8693191" cy="57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5482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8" y="747053"/>
            <a:ext cx="5210362" cy="44339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77144" y="747053"/>
            <a:ext cx="5210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SAFETY NORMS AND COMPLIANCE MEASURE</a:t>
            </a: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8" y="1315980"/>
            <a:ext cx="9224146" cy="547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4689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0491" y="712548"/>
            <a:ext cx="3234913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14386" y="712548"/>
            <a:ext cx="3295304" cy="4001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STAKEHOLDERS &amp; ISSUES</a:t>
            </a:r>
            <a:endParaRPr lang="en-US" sz="2000" b="1" dirty="0"/>
          </a:p>
        </p:txBody>
      </p:sp>
      <p:sp>
        <p:nvSpPr>
          <p:cNvPr id="8" name="Horizontal Scroll 7"/>
          <p:cNvSpPr/>
          <p:nvPr/>
        </p:nvSpPr>
        <p:spPr>
          <a:xfrm>
            <a:off x="750491" y="1356022"/>
            <a:ext cx="5262120" cy="957532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orizontal Scroll 8"/>
          <p:cNvSpPr/>
          <p:nvPr/>
        </p:nvSpPr>
        <p:spPr>
          <a:xfrm>
            <a:off x="750491" y="2313554"/>
            <a:ext cx="5262120" cy="957532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Horizontal Scroll 9"/>
          <p:cNvSpPr/>
          <p:nvPr/>
        </p:nvSpPr>
        <p:spPr>
          <a:xfrm>
            <a:off x="750491" y="3271086"/>
            <a:ext cx="5262120" cy="957532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orizontal Scroll 10"/>
          <p:cNvSpPr/>
          <p:nvPr/>
        </p:nvSpPr>
        <p:spPr>
          <a:xfrm>
            <a:off x="750484" y="4277738"/>
            <a:ext cx="5262120" cy="957532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orizontal Scroll 11"/>
          <p:cNvSpPr/>
          <p:nvPr/>
        </p:nvSpPr>
        <p:spPr>
          <a:xfrm>
            <a:off x="750484" y="5245089"/>
            <a:ext cx="5262120" cy="957532"/>
          </a:xfrm>
          <a:prstGeom prst="horizontalScroll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250823" y="1503757"/>
            <a:ext cx="47617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Farmers &amp; Greenhouse Owners</a:t>
            </a:r>
            <a:r>
              <a:rPr lang="en-US" dirty="0" smtClean="0">
                <a:solidFill>
                  <a:srgbClr val="C00000"/>
                </a:solidFill>
              </a:rPr>
              <a:t>  </a:t>
            </a:r>
          </a:p>
          <a:p>
            <a:r>
              <a:rPr lang="en-US" sz="1600" dirty="0" smtClean="0"/>
              <a:t>automated and efficient greenhouse management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 flipH="1">
            <a:off x="1250823" y="2459984"/>
            <a:ext cx="41725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Agricultural Researchers</a:t>
            </a:r>
            <a:r>
              <a:rPr lang="en-US" dirty="0" smtClean="0">
                <a:solidFill>
                  <a:srgbClr val="C00000"/>
                </a:solidFill>
              </a:rPr>
              <a:t>  </a:t>
            </a:r>
          </a:p>
          <a:p>
            <a:r>
              <a:rPr lang="en-US" sz="1600" dirty="0" smtClean="0"/>
              <a:t>testing smart-farming techniques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1250823" y="3466636"/>
            <a:ext cx="450299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Students &amp; Universities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r>
              <a:rPr lang="en-US" sz="1600" dirty="0" smtClean="0"/>
              <a:t>practical learning of </a:t>
            </a:r>
            <a:r>
              <a:rPr lang="en-US" sz="1600" dirty="0" err="1" smtClean="0"/>
              <a:t>IoT</a:t>
            </a:r>
            <a:r>
              <a:rPr lang="en-US" sz="1600" dirty="0" smtClean="0"/>
              <a:t>, sensors &amp; automation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1250823" y="4427516"/>
            <a:ext cx="399403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Technology Developers</a:t>
            </a:r>
            <a:r>
              <a:rPr lang="en-US" dirty="0" smtClean="0">
                <a:solidFill>
                  <a:srgbClr val="C00000"/>
                </a:solidFill>
              </a:rPr>
              <a:t>  </a:t>
            </a:r>
          </a:p>
          <a:p>
            <a:r>
              <a:rPr lang="en-US" sz="1600" dirty="0" smtClean="0"/>
              <a:t>foundation for smart-agriculture solutions</a:t>
            </a:r>
            <a:endParaRPr 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1250823" y="5399978"/>
            <a:ext cx="4658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Government &amp; Environmental Organizations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r>
              <a:rPr lang="en-US" dirty="0" smtClean="0"/>
              <a:t> </a:t>
            </a:r>
            <a:r>
              <a:rPr lang="en-US" sz="1600" dirty="0" smtClean="0"/>
              <a:t>potential use in sustainable agriculture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6726527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0946" y="712548"/>
            <a:ext cx="2596551" cy="4140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91747" y="712548"/>
            <a:ext cx="14549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800978" y="201858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3207" y="1531383"/>
            <a:ext cx="550077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 smtClean="0"/>
              <a:t>ESP32-</a:t>
            </a:r>
            <a:r>
              <a:rPr lang="en-US" sz="2000" dirty="0" smtClean="0"/>
              <a:t>based smart greenhouse successfully integrates sensors and actuators.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dirty="0" smtClean="0"/>
              <a:t>Monitors </a:t>
            </a:r>
            <a:r>
              <a:rPr lang="en-US" sz="2000" b="1" dirty="0" smtClean="0"/>
              <a:t>temperature, humidity, soil moisture, light &amp; rainfall</a:t>
            </a:r>
            <a:r>
              <a:rPr lang="en-US" sz="2000" dirty="0" smtClean="0"/>
              <a:t> in real time.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dirty="0" smtClean="0"/>
              <a:t>Automatically controls </a:t>
            </a:r>
            <a:r>
              <a:rPr lang="en-US" sz="2000" b="1" dirty="0" smtClean="0"/>
              <a:t>water pump, fan, light &amp; greenhouse roof</a:t>
            </a:r>
            <a:r>
              <a:rPr lang="en-US" sz="2000" dirty="0" smtClean="0"/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dirty="0" smtClean="0"/>
              <a:t>Supports </a:t>
            </a:r>
            <a:r>
              <a:rPr lang="en-US" sz="2000" b="1" dirty="0" smtClean="0"/>
              <a:t>LCD display and </a:t>
            </a:r>
            <a:r>
              <a:rPr lang="en-US" sz="2000" b="1" dirty="0" err="1" smtClean="0"/>
              <a:t>Blynk</a:t>
            </a:r>
            <a:r>
              <a:rPr lang="en-US" sz="2000" b="1" dirty="0" smtClean="0"/>
              <a:t>-based monitoring/control</a:t>
            </a:r>
            <a:r>
              <a:rPr lang="en-US" sz="2000" dirty="0" smtClean="0"/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 smtClean="0"/>
              <a:t>Affordable implementation cost: BDT 4,000</a:t>
            </a:r>
            <a:r>
              <a:rPr lang="en-US" sz="2000" dirty="0" smtClean="0"/>
              <a:t>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dirty="0" smtClean="0"/>
              <a:t>Provides a foundation for </a:t>
            </a:r>
            <a:r>
              <a:rPr lang="en-US" sz="2000" b="1" dirty="0" err="1" smtClean="0"/>
              <a:t>IoT</a:t>
            </a:r>
            <a:r>
              <a:rPr lang="en-US" sz="2000" b="1" dirty="0" smtClean="0"/>
              <a:t> monitoring, renewable energy &amp; larger-scale smart farming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13" name="Rounded Rectangle 12"/>
          <p:cNvSpPr/>
          <p:nvPr/>
        </p:nvSpPr>
        <p:spPr>
          <a:xfrm>
            <a:off x="690316" y="5553943"/>
            <a:ext cx="7257548" cy="5779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002234" y="5658261"/>
            <a:ext cx="684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“Smart, Affordable &amp; Expandable Solution for Modern Agriculture.”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70419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9584" y="3441864"/>
            <a:ext cx="4119117" cy="13285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72860" y="3554083"/>
            <a:ext cx="3804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Smart Greenhouse Monitoring System</a:t>
            </a:r>
            <a:endParaRPr lang="en-US" sz="28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339" y="513195"/>
            <a:ext cx="7648755" cy="573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1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582"/>
            <a:ext cx="12175013" cy="6867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0333" y="2731235"/>
            <a:ext cx="60729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Thank You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27826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305</Words>
  <Application>Microsoft Office PowerPoint</Application>
  <PresentationFormat>Widescreen</PresentationFormat>
  <Paragraphs>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35</cp:revision>
  <dcterms:created xsi:type="dcterms:W3CDTF">2026-09-28T15:16:46Z</dcterms:created>
  <dcterms:modified xsi:type="dcterms:W3CDTF">2026-09-30T19:41:57Z</dcterms:modified>
</cp:coreProperties>
</file>